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1097280"/>
            <a:ext cx="3200400" cy="4389120"/>
          </a:xfrm>
          <a:prstGeom prst="rect">
            <a:avLst/>
          </a:prstGeom>
          <a:solidFill>
            <a:srgbClr val="22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E4FE"/>
                </a:solidFill>
                <a:latin typeface="Calibri"/>
              </a:rPr>
              <a:t>MINI-PROJET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4FE"/>
                </a:solidFill>
                <a:latin typeface="Calibri"/>
              </a:rPr>
              <a:t>Technologies Émergentes &amp; Quantum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Conception d'un Assistant
IA Génératif Edge pour
un Campus Intelligent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4340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4FE"/>
                </a:solidFill>
                <a:latin typeface="Calibri"/>
              </a:rPr>
              <a:t>Prototype : API GPT-4o-mini + couche Edge simulée en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Encadrant : Pr. TOUIL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4FE"/>
                </a:solidFill>
                <a:latin typeface="Calibri"/>
              </a:rPr>
              <a:t>ENSA Béni Mellal — IA &amp; Cybersécurité S4 — 2025/2026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BE4FE"/>
                </a:solidFill>
                <a:latin typeface="Calibri"/>
              </a:rPr>
              <a:t>Edge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BE4FE"/>
                </a:solidFill>
                <a:latin typeface="Calibri"/>
              </a:rPr>
              <a:t>Data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4747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BE4FE"/>
                </a:solidFill>
                <a:latin typeface="Calibri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4747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BE4FE"/>
                </a:solidFill>
                <a:latin typeface="Calibri"/>
              </a:rPr>
              <a:t>Cloud-Fog-Edge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6692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640080" cy="2286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19456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6B"/>
                </a:solidFill>
                <a:latin typeface="Calibri"/>
              </a:rPr>
              <a:t>Introduction &amp; Contexte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6B"/>
                </a:solidFill>
                <a:latin typeface="Calibri"/>
              </a:rPr>
              <a:t>⏱ 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31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Problématique du campus intelligent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432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Objectifs du projet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5467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Industry 5.0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6692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64008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19456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15544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6B"/>
                </a:solidFill>
                <a:latin typeface="Calibri"/>
              </a:rPr>
              <a:t>Architecture Cloud-Fog-Edge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EB"/>
                </a:solidFill>
                <a:latin typeface="Calibri"/>
              </a:rPr>
              <a:t>⏱ 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2331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Vue d'ensemble du système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7432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Flux des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315467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Répartition des traitements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23360"/>
            <a:ext cx="56692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023360"/>
            <a:ext cx="640080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75488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1148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6B"/>
                </a:solidFill>
                <a:latin typeface="Calibri"/>
              </a:rPr>
              <a:t>Prototype — Démo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59669"/>
                </a:solidFill>
                <a:latin typeface="Calibri"/>
              </a:rPr>
              <a:t>⏱ 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892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4 modules 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303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Démo interactive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7150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Mesures de latence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23360"/>
            <a:ext cx="56692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023360"/>
            <a:ext cx="64008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75488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41148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6B"/>
                </a:solidFill>
                <a:latin typeface="Calibri"/>
              </a:rPr>
              <a:t>Risques &amp; Conclusion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59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C3AED"/>
                </a:solidFill>
                <a:latin typeface="Calibri"/>
              </a:rPr>
              <a:t>⏱ 3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4892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Analyse des risques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5303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Souveraineté numérique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57150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•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BE4FE"/>
                </a:solidFill>
                <a:latin typeface="Calibri"/>
              </a:rPr>
              <a:t>Pourquoi un assistant Edge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B"/>
                </a:solidFill>
                <a:latin typeface="Calibri"/>
              </a:rPr>
              <a:t>Solutions actuelles : 100%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577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3A6B"/>
                </a:solidFill>
                <a:latin typeface="Calibri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0116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6B"/>
                </a:solidFill>
                <a:latin typeface="Calibri"/>
              </a:rPr>
              <a:t>Latence 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395728"/>
            <a:ext cx="14630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231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300–1000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Incompatible avec une interaction fluide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5577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3A6B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0116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6B"/>
                </a:solidFill>
                <a:latin typeface="Calibri"/>
              </a:rPr>
              <a:t>Données personnelles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395728"/>
            <a:ext cx="14630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4231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Exposées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7432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Données étudiants sur serveurs étrangers (RGPD)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5577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97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3A6B"/>
                </a:solidFill>
                <a:latin typeface="Calibri"/>
              </a:rP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114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6B"/>
                </a:solidFill>
                <a:latin typeface="Calibri"/>
              </a:rPr>
              <a:t>Dépendance réseau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498848"/>
            <a:ext cx="146304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5262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Coupure = 0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8463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Aucune résilience hors-ligne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023360"/>
            <a:ext cx="55778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297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3A6B"/>
                </a:solidFill>
                <a:latin typeface="Calibri"/>
              </a:rPr>
              <a:t>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114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6B"/>
                </a:solidFill>
                <a:latin typeface="Calibri"/>
              </a:rPr>
              <a:t>Coût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4498848"/>
            <a:ext cx="146304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45262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Récurrent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463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Coût par requête, non maîtrisé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→ Notre solution : Architecture Cloud-Fog-Edge avec IA locale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Architecture Cloud-Fog-Edge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86868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828800" cy="1143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554480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GPT-4o-mini (OpenAI API) | Fine-tuning | Sync périodique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37360"/>
            <a:ext cx="868680" cy="4114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6479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~3000ms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↕ HTTPS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86868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743200"/>
            <a:ext cx="182880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880360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Serveur campus | Cache distribué | Agrégation requêtes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063240"/>
            <a:ext cx="8686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09067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~50ms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↕ HTTPS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86868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69080"/>
            <a:ext cx="1828800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389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206240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Cache local Python | SQLite | Détection stress | Mode dégradé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389120"/>
            <a:ext cx="8686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41655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&lt; 5ms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30368"/>
            <a:ext cx="8686800" cy="822960"/>
          </a:xfrm>
          <a:prstGeom prst="rect">
            <a:avLst/>
          </a:prstGeom>
          <a:solidFill>
            <a:srgbClr val="E0E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218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6B"/>
                </a:solidFill>
                <a:latin typeface="Calibri"/>
              </a:rPr>
              <a:t>👤  UTILISATEUR — Étudiant ENSA | Interface chat Python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1417320"/>
            <a:ext cx="2743200" cy="46634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1508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Points clés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65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4FE"/>
                </a:solidFill>
                <a:latin typeface="Calibri"/>
              </a:rPr>
              <a:t>✓  Latence &lt; 200ms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587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4FE"/>
                </a:solidFill>
                <a:latin typeface="Calibri"/>
              </a:rPr>
              <a:t>✓  Données locales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20954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4FE"/>
                </a:solidFill>
                <a:latin typeface="Calibri"/>
              </a:rPr>
              <a:t>✓  Mode offline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83133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4FE"/>
                </a:solidFill>
                <a:latin typeface="Calibri"/>
              </a:rPr>
              <a:t>✓  Cache Edge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4531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4FE"/>
                </a:solidFill>
                <a:latin typeface="Calibri"/>
              </a:rPr>
              <a:t>✓  Stress détecté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5074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4FE"/>
                </a:solidFill>
                <a:latin typeface="Calibri"/>
              </a:rPr>
              <a:t>✓  API anonymisée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Flux de traitement d'une requête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59" y="1828800"/>
            <a:ext cx="8229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59" y="1828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6B"/>
                </a:solidFill>
                <a:latin typeface="Calibri"/>
              </a:rPr>
              <a:t>Entrée étudiant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4612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Calibri"/>
              </a:rPr>
              <a:t>Message saisi dans le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965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828800"/>
            <a:ext cx="82296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828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6B"/>
                </a:solidFill>
                <a:latin typeface="Calibri"/>
              </a:rPr>
              <a:t>Détection stress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24612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Calibri"/>
              </a:rPr>
              <a:t>Analyse locale (&lt; 1ms), 100% 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965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79" y="1828800"/>
            <a:ext cx="82296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828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6B"/>
                </a:solidFill>
                <a:latin typeface="Calibri"/>
              </a:rPr>
              <a:t>Vérif. cache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24612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Calibri"/>
              </a:rPr>
              <a:t>Cache HIT → réponse en &lt; 5ms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1965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828800"/>
            <a:ext cx="82296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828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6B"/>
                </a:solidFill>
                <a:latin typeface="Calibri"/>
              </a:rPr>
              <a:t>Appel API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4612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Calibri"/>
              </a:rPr>
              <a:t>Cache MISS → GPT-4o-mini (~3s)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965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1828800"/>
            <a:ext cx="8229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1828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6B"/>
                </a:solidFill>
                <a:latin typeface="Calibri"/>
              </a:rPr>
              <a:t>Mise en cache + réponse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24612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Calibri"/>
              </a:rPr>
              <a:t>Réponse enrichie retournée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1965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1828800"/>
            <a:ext cx="822960" cy="82296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1828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6B"/>
                </a:solidFill>
                <a:latin typeface="Calibri"/>
              </a:rPr>
              <a:t>Journalisation SQLite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324612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Calibri"/>
              </a:rPr>
              <a:t>Données stockées localement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3566160"/>
            <a:ext cx="3931920" cy="1645920"/>
          </a:xfrm>
          <a:prstGeom prst="rect">
            <a:avLst/>
          </a:prstGeom>
          <a:solidFill>
            <a:srgbClr val="E0F7F0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⚡  Cache HIT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397763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Réponse instantanée &lt; 1ms
Pas d'appel API cloud
Économie de coût + latence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566160"/>
            <a:ext cx="3931920" cy="1645920"/>
          </a:xfrm>
          <a:prstGeom prst="rect">
            <a:avLst/>
          </a:prstGeom>
          <a:solidFill>
            <a:srgbClr val="EF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☁  Cache MISS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97763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Appel API OpenAI ~3000ms
Réponse mise en cache
Prochaine fois : instantané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Prototype — 4 Modules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6692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66928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4996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edge_layer.py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5361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Calibri"/>
              </a:rPr>
              <a:t>Couche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Cache local (dict 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50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Mode dégradé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437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Routage vers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369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Mesure latence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6692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566928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4996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stress_detector.py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9" y="15361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Calibri"/>
              </a:rPr>
              <a:t>Détection Stress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Analyse par règles 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50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4 niveaux de sévérité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437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100% local &lt; 1ms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369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16 mots-clés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23360"/>
            <a:ext cx="56692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023360"/>
            <a:ext cx="56692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40599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local_db.py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096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Calibri"/>
              </a:rPr>
              <a:t>Base de données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SQLite local (Edge only)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109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Table interactions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041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Table plannings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97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Zéro cloud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23360"/>
            <a:ext cx="566928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023360"/>
            <a:ext cx="56692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0599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edge_assistant.py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59" y="4096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FFFFF"/>
                </a:solidFill>
                <a:latin typeface="Calibri"/>
              </a:rPr>
              <a:t>Orchestrateur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617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Coordonne les modules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0109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Appel API GPT-4o-mini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041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Pipeline complet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97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✓  Interface chat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Résultats de la démo — API OpenAI connectée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1704320" cy="4572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179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Scénario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5179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179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5179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Résultat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20240"/>
            <a:ext cx="11704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920240"/>
            <a:ext cx="73152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299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Acte 1 — Mode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0299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urier New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2996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3 746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02996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Réponse GPT-4o-mini en français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97480"/>
            <a:ext cx="11704320" cy="731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69748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072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Acte 1b — Cache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807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  <a:latin typeface="Courier New"/>
              </a:rPr>
              <a:t>edge_cache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8072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0.6 ms 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80720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×6000 plus rapide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474720"/>
            <a:ext cx="117043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474720"/>
            <a:ext cx="73152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84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Acte 2 — Stress détecté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5844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ourier New"/>
              </a:rPr>
              <a:t>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5844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3 031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5844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high_stress + message soutien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51960"/>
            <a:ext cx="11704320" cy="731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251960"/>
            <a:ext cx="73152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3616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Acte 3 — Mode dégradé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3616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7706"/>
                </a:solidFill>
                <a:latin typeface="Courier New"/>
              </a:rPr>
              <a:t>edge_local_degraded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36168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1.6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36168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Réponse offline sans internet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709160"/>
            <a:ext cx="11704320" cy="11887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Statistiques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4FE"/>
                </a:solidFill>
                <a:latin typeface="Calibri"/>
              </a:rPr>
              <a:t>Interactions totales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alibri"/>
              </a:rPr>
              <a:t>0.6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4FE"/>
                </a:solidFill>
                <a:latin typeface="Calibri"/>
              </a:rPr>
              <a:t>Latence cache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alibri"/>
              </a:rPr>
              <a:t>8.5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4FE"/>
                </a:solidFill>
                <a:latin typeface="Calibri"/>
              </a:rPr>
              <a:t>Latence moyenne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200 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4FE"/>
                </a:solidFill>
                <a:latin typeface="Calibri"/>
              </a:rPr>
              <a:t>Limite requise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98932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  Latence 23× inférieure à la contrainte de 200ms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Détection de stress — Analyse NLP locale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Approche : règles NLP + mots-clés | 100% local | Déterministe | Explicable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4864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4864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Score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68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Action : Réponse standard sans modification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20240"/>
            <a:ext cx="54864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920240"/>
            <a:ext cx="54864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MILD_FRUSTRATION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Score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68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Action : « Pas de panique ! Je suis là. 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54864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54864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MODERATE_STRESS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187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Score 2–3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63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Action : « Reformulons ensemble ce point. 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114800"/>
            <a:ext cx="54864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114800"/>
            <a:ext cx="54864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HIGH_STRESS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187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Score ≥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663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Action : « Prenez une pause, respirez... 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52160"/>
            <a:ext cx="114300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ourier New"/>
              </a:rPr>
              <a:t>Entrée : "je comprends RIEN à ce cours c'est impossible!!!"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9669"/>
                </a:solidFill>
                <a:latin typeface="Courier New"/>
              </a:rPr>
              <a:t>→ Résultat : { "level": "high_stress", "score": 5, "triggers": ["je comprends rien", "impossible", "!!!", "majuscules"]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Analyse des risques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1704320" cy="43891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179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Risque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51790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Catégorie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517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5179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01952"/>
            <a:ext cx="11704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901952"/>
            <a:ext cx="9144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Biais algorithmiques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0116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Éthique 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039112"/>
            <a:ext cx="123444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06654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0116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Audit sorties + diversification données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87752"/>
            <a:ext cx="1170432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587752"/>
            <a:ext cx="9144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974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Hallucinations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6974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Qualité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2724912"/>
            <a:ext cx="123444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6672" y="275234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Élevé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697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RAG sur contenu cours + vérification humaine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73552"/>
            <a:ext cx="11704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273552"/>
            <a:ext cx="9144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3832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Dépendance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3832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Résilience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40" y="3410712"/>
            <a:ext cx="12344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76672" y="343814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Moyen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3832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Mode dégradé local + cache Edge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59352"/>
            <a:ext cx="1170432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959352"/>
            <a:ext cx="9144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0690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Fuite de données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0690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Cybersécurité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4096512"/>
            <a:ext cx="123444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76672" y="412394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Très élevé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0690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SQLite local uniquement, anonymisation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645152"/>
            <a:ext cx="11704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4645152"/>
            <a:ext cx="9144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7548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Injection de prompt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3320" y="47548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Cybersécurité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4782312"/>
            <a:ext cx="12344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76672" y="480974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Moyen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47548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Validation inputs + system prompt robuste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330952"/>
            <a:ext cx="11704320" cy="6583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5330952"/>
            <a:ext cx="9144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4406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Souveraineté numérique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3320" y="54406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Légal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5468112"/>
            <a:ext cx="123444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76672" y="549554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Élevé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54406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Migration LLaMA open-source local à terme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Souveraineté numérique — Stratégie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Notre architecture est conçue pour être agnostique au modèle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3657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365760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COURT TERME
(Prototype actuel)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2491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API OpenAI GPT-4o-mini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564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Requêtes anonymisées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879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SQLite local pour données PII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1947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Architecture Edge simulée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011680"/>
            <a:ext cx="3657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011680"/>
            <a:ext cx="365760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0299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MOYEN TERME
(Mise en production)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2491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LLaMA 3 / Mistral hébergé 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564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Couche Fog serveur labo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1879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Zéro dépendance cloud externe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91947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Cache sémantique (embeddings)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011680"/>
            <a:ext cx="3657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011680"/>
            <a:ext cx="365760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0299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LONG TERME
(Pleine souveraineté)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72491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Fine-tuning sur corpus ENSA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4564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Modèle spécialisé pédagogie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879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Infrastructure 100% on-premise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91947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→  Gouvernance IA institutionnelle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035040"/>
            <a:ext cx="11430000" cy="548640"/>
          </a:xfrm>
          <a:prstGeom prst="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080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6B"/>
                </a:solidFill>
                <a:latin typeface="Calibri"/>
              </a:rPr>
              <a:t>Migration transparente : seule la méthode _call_cloud_llm() change — architecture Edge inchangée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6537960"/>
            <a:ext cx="66751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BE4FE"/>
                </a:solidFill>
                <a:latin typeface="Calibri"/>
              </a:rPr>
              <a:t>ENSA Béni Mellal — Mini-Projet TEQ | Pr. TOUIL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94360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54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B"/>
                </a:solidFill>
                <a:latin typeface="Calibri"/>
              </a:rPr>
              <a:t>Architecture Cloud-Fog-Edge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965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Modélisée et implémentée en 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94360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54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B"/>
                </a:solidFill>
                <a:latin typeface="Calibri"/>
              </a:rPr>
              <a:t>Latence &lt; 200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65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Atteinte : 0.6ms cache, 8.5ms moyenne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8036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594360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546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9718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B"/>
                </a:solidFill>
                <a:latin typeface="Calibri"/>
              </a:rPr>
              <a:t>Protection des données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3832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100% SQLite local, aucune PII en cloud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8036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880360"/>
            <a:ext cx="594360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1546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718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B"/>
                </a:solidFill>
                <a:latin typeface="Calibri"/>
              </a:rPr>
              <a:t>Détection de stress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3832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4 niveaux, 100% local, &lt; 1ms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9768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297680"/>
            <a:ext cx="594360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5720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3891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B"/>
                </a:solidFill>
                <a:latin typeface="Calibri"/>
              </a:rPr>
              <a:t>Mode dégradé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800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Fonctionnel hors-ligne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29768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297680"/>
            <a:ext cx="594360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5720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3891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B"/>
                </a:solidFill>
                <a:latin typeface="Calibri"/>
              </a:rPr>
              <a:t>Analyse des risques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800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6 risques identifiés + solutions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806440"/>
            <a:ext cx="11430000" cy="7315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870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Ce prototype démontre la faisabilité d'une IA générative Edge souveraine pour campus intelligent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